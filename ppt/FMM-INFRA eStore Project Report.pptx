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Roboto Slab"/>
      <p:regular r:id="rId17"/>
      <p:bold r:id="rId18"/>
    </p:embeddedFont>
    <p:embeddedFont>
      <p:font typeface="Outfit SemiBold"/>
      <p:regular r:id="rId19"/>
      <p:bold r:id="rId20"/>
    </p:embeddedFont>
    <p:embeddedFont>
      <p:font typeface="Nunito Light"/>
      <p:regular r:id="rId21"/>
      <p:bold r:id="rId22"/>
      <p:italic r:id="rId23"/>
      <p:boldItalic r:id="rId24"/>
    </p:embeddedFont>
    <p:embeddedFont>
      <p:font typeface="Roboto"/>
      <p:regular r:id="rId25"/>
      <p:bold r:id="rId26"/>
      <p:italic r:id="rId27"/>
      <p:boldItalic r:id="rId28"/>
    </p:embeddedFont>
    <p:embeddedFont>
      <p:font typeface="Inter Light"/>
      <p:regular r:id="rId29"/>
      <p:bold r:id="rId30"/>
      <p:italic r:id="rId31"/>
      <p:boldItalic r:id="rId32"/>
    </p:embeddedFont>
    <p:embeddedFont>
      <p:font typeface="Inter SemiBold"/>
      <p:regular r:id="rId33"/>
      <p:bold r:id="rId34"/>
      <p:italic r:id="rId35"/>
      <p:boldItalic r:id="rId36"/>
    </p:embeddedFont>
    <p:embeddedFont>
      <p:font typeface="Outfit Light"/>
      <p:regular r:id="rId37"/>
      <p:bold r:id="rId38"/>
    </p:embeddedFont>
    <p:embeddedFont>
      <p:font typeface="Urbanist Medium"/>
      <p:regular r:id="rId39"/>
      <p:bold r:id="rId40"/>
      <p:italic r:id="rId41"/>
      <p:boldItalic r:id="rId42"/>
    </p:embeddedFont>
    <p:embeddedFont>
      <p:font typeface="Outfit"/>
      <p:regular r:id="rId43"/>
      <p:bold r:id="rId44"/>
    </p:embeddedFont>
    <p:embeddedFont>
      <p:font typeface="Urbanist"/>
      <p:regular r:id="rId45"/>
      <p:bold r:id="rId46"/>
      <p:italic r:id="rId47"/>
      <p:boldItalic r:id="rId48"/>
    </p:embeddedFont>
    <p:embeddedFont>
      <p:font typeface="Outfit Medium"/>
      <p:regular r:id="rId49"/>
      <p:bold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rbanistMedium-bold.fntdata"/><Relationship Id="rId42" Type="http://schemas.openxmlformats.org/officeDocument/2006/relationships/font" Target="fonts/UrbanistMedium-boldItalic.fntdata"/><Relationship Id="rId41" Type="http://schemas.openxmlformats.org/officeDocument/2006/relationships/font" Target="fonts/UrbanistMedium-italic.fntdata"/><Relationship Id="rId44" Type="http://schemas.openxmlformats.org/officeDocument/2006/relationships/font" Target="fonts/Outfit-bold.fntdata"/><Relationship Id="rId43" Type="http://schemas.openxmlformats.org/officeDocument/2006/relationships/font" Target="fonts/Outfit-regular.fntdata"/><Relationship Id="rId46" Type="http://schemas.openxmlformats.org/officeDocument/2006/relationships/font" Target="fonts/Urbanist-bold.fntdata"/><Relationship Id="rId45" Type="http://schemas.openxmlformats.org/officeDocument/2006/relationships/font" Target="fonts/Urbanis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Urbanist-boldItalic.fntdata"/><Relationship Id="rId47" Type="http://schemas.openxmlformats.org/officeDocument/2006/relationships/font" Target="fonts/Urbanist-italic.fntdata"/><Relationship Id="rId49" Type="http://schemas.openxmlformats.org/officeDocument/2006/relationships/font" Target="fonts/Outfit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Light-italic.fntdata"/><Relationship Id="rId30" Type="http://schemas.openxmlformats.org/officeDocument/2006/relationships/font" Target="fonts/InterLight-bold.fntdata"/><Relationship Id="rId33" Type="http://schemas.openxmlformats.org/officeDocument/2006/relationships/font" Target="fonts/InterSemiBold-regular.fntdata"/><Relationship Id="rId32" Type="http://schemas.openxmlformats.org/officeDocument/2006/relationships/font" Target="fonts/InterLight-boldItalic.fntdata"/><Relationship Id="rId35" Type="http://schemas.openxmlformats.org/officeDocument/2006/relationships/font" Target="fonts/InterSemiBold-italic.fntdata"/><Relationship Id="rId34" Type="http://schemas.openxmlformats.org/officeDocument/2006/relationships/font" Target="fonts/InterSemiBold-bold.fntdata"/><Relationship Id="rId37" Type="http://schemas.openxmlformats.org/officeDocument/2006/relationships/font" Target="fonts/OutfitLight-regular.fntdata"/><Relationship Id="rId36" Type="http://schemas.openxmlformats.org/officeDocument/2006/relationships/font" Target="fonts/InterSemiBold-boldItalic.fntdata"/><Relationship Id="rId39" Type="http://schemas.openxmlformats.org/officeDocument/2006/relationships/font" Target="fonts/UrbanistMedium-regular.fntdata"/><Relationship Id="rId38" Type="http://schemas.openxmlformats.org/officeDocument/2006/relationships/font" Target="fonts/OutfitLight-bold.fntdata"/><Relationship Id="rId20" Type="http://schemas.openxmlformats.org/officeDocument/2006/relationships/font" Target="fonts/OutfitSemiBold-bold.fntdata"/><Relationship Id="rId22" Type="http://schemas.openxmlformats.org/officeDocument/2006/relationships/font" Target="fonts/NunitoLight-bold.fntdata"/><Relationship Id="rId21" Type="http://schemas.openxmlformats.org/officeDocument/2006/relationships/font" Target="fonts/NunitoLight-regular.fntdata"/><Relationship Id="rId24" Type="http://schemas.openxmlformats.org/officeDocument/2006/relationships/font" Target="fonts/NunitoLight-boldItalic.fntdata"/><Relationship Id="rId23" Type="http://schemas.openxmlformats.org/officeDocument/2006/relationships/font" Target="fonts/NunitoLight-italic.fntdata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29" Type="http://schemas.openxmlformats.org/officeDocument/2006/relationships/font" Target="fonts/InterLight-regular.fntdata"/><Relationship Id="rId50" Type="http://schemas.openxmlformats.org/officeDocument/2006/relationships/font" Target="fonts/OutfitMedium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Slab-regular.fntdata"/><Relationship Id="rId16" Type="http://schemas.openxmlformats.org/officeDocument/2006/relationships/slide" Target="slides/slide11.xml"/><Relationship Id="rId19" Type="http://schemas.openxmlformats.org/officeDocument/2006/relationships/font" Target="fonts/OutfitSemiBold-regular.fntdata"/><Relationship Id="rId18" Type="http://schemas.openxmlformats.org/officeDocument/2006/relationships/font" Target="fonts/RobotoSlab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db13280edd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db13280edd_0_2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b13280edd_3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db13280edd_3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b13280edd_3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db13280edd_3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033067" y="896808"/>
            <a:ext cx="1442131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3810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8716786" y="4457271"/>
            <a:ext cx="1442131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3810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5812802" y="3756618"/>
            <a:ext cx="566400" cy="0"/>
          </a:xfrm>
          <a:prstGeom prst="straightConnector1">
            <a:avLst/>
          </a:prstGeom>
          <a:noFill/>
          <a:ln cap="flat" cmpd="sng" w="508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240402" y="1585234"/>
            <a:ext cx="7711200" cy="1943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240402" y="4065933"/>
            <a:ext cx="7711200" cy="121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5812802" y="3756618"/>
            <a:ext cx="566400" cy="0"/>
          </a:xfrm>
          <a:prstGeom prst="straightConnector1">
            <a:avLst/>
          </a:prstGeom>
          <a:noFill/>
          <a:ln cap="flat" cmpd="sng" w="508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641000" y="2353267"/>
            <a:ext cx="10962900" cy="1209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656750" y="1680378"/>
            <a:ext cx="566400" cy="0"/>
          </a:xfrm>
          <a:prstGeom prst="straightConnector1">
            <a:avLst/>
          </a:prstGeom>
          <a:noFill/>
          <a:ln cap="flat" cmpd="sng" w="508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517200" y="610700"/>
            <a:ext cx="11157600" cy="914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517200" y="1986432"/>
            <a:ext cx="11157600" cy="410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656750" y="1680378"/>
            <a:ext cx="566400" cy="0"/>
          </a:xfrm>
          <a:prstGeom prst="straightConnector1">
            <a:avLst/>
          </a:prstGeom>
          <a:noFill/>
          <a:ln cap="flat" cmpd="sng" w="508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517200" y="610700"/>
            <a:ext cx="11157600" cy="914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517200" y="1986433"/>
            <a:ext cx="5333100" cy="410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6341600" y="1986433"/>
            <a:ext cx="5333100" cy="410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517200" y="610700"/>
            <a:ext cx="11157600" cy="914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652291" y="1883036"/>
            <a:ext cx="441900" cy="0"/>
          </a:xfrm>
          <a:prstGeom prst="straightConnector1">
            <a:avLst/>
          </a:prstGeom>
          <a:noFill/>
          <a:ln cap="flat" cmpd="sng" w="508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5172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517200" y="2125367"/>
            <a:ext cx="3744000" cy="3574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653667" y="701800"/>
            <a:ext cx="74916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6096000" y="-100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6706233" y="5994004"/>
            <a:ext cx="721200" cy="0"/>
          </a:xfrm>
          <a:prstGeom prst="straightConnector1">
            <a:avLst/>
          </a:prstGeom>
          <a:noFill/>
          <a:ln cap="flat" cmpd="sng" w="508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354000" y="1612100"/>
            <a:ext cx="5393700" cy="20085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354000" y="3692001"/>
            <a:ext cx="5393700" cy="179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426000" y="5644967"/>
            <a:ext cx="7998300" cy="79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200" y="6769100"/>
            <a:ext cx="12191700" cy="8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517200" y="1536600"/>
            <a:ext cx="11157600" cy="2051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517200" y="3892600"/>
            <a:ext cx="11157600" cy="142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17200" y="610700"/>
            <a:ext cx="111576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17200" y="1986432"/>
            <a:ext cx="111576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  <a:defRPr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○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■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●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○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■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●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○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■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23.png"/><Relationship Id="rId5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4.png"/><Relationship Id="rId4" Type="http://schemas.openxmlformats.org/officeDocument/2006/relationships/image" Target="../media/image4.png"/><Relationship Id="rId9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4.png"/><Relationship Id="rId4" Type="http://schemas.openxmlformats.org/officeDocument/2006/relationships/image" Target="../media/image20.png"/><Relationship Id="rId5" Type="http://schemas.openxmlformats.org/officeDocument/2006/relationships/image" Target="../media/image8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21.png"/><Relationship Id="rId13" Type="http://schemas.openxmlformats.org/officeDocument/2006/relationships/image" Target="../media/image26.png"/><Relationship Id="rId12" Type="http://schemas.openxmlformats.org/officeDocument/2006/relationships/image" Target="../media/image36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4.png"/><Relationship Id="rId4" Type="http://schemas.openxmlformats.org/officeDocument/2006/relationships/image" Target="../media/image16.png"/><Relationship Id="rId9" Type="http://schemas.openxmlformats.org/officeDocument/2006/relationships/image" Target="../media/image18.png"/><Relationship Id="rId14" Type="http://schemas.openxmlformats.org/officeDocument/2006/relationships/image" Target="../media/image24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Relationship Id="rId7" Type="http://schemas.openxmlformats.org/officeDocument/2006/relationships/image" Target="../media/image19.png"/><Relationship Id="rId8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4.png"/><Relationship Id="rId4" Type="http://schemas.openxmlformats.org/officeDocument/2006/relationships/image" Target="../media/image22.png"/><Relationship Id="rId9" Type="http://schemas.openxmlformats.org/officeDocument/2006/relationships/image" Target="../media/image28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27.png"/><Relationship Id="rId8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Relationship Id="rId4" Type="http://schemas.openxmlformats.org/officeDocument/2006/relationships/image" Target="../media/image31.png"/><Relationship Id="rId5" Type="http://schemas.openxmlformats.org/officeDocument/2006/relationships/image" Target="../media/image33.png"/><Relationship Id="rId6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hyperlink" Target="https://tsl-storemgmtsys-1.onrender.com/items" TargetMode="External"/><Relationship Id="rId6" Type="http://schemas.openxmlformats.org/officeDocument/2006/relationships/image" Target="../media/image3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3" name="Google Shape;6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/>
        </p:nvSpPr>
        <p:spPr>
          <a:xfrm>
            <a:off x="295275" y="2720280"/>
            <a:ext cx="116016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FMM-Infrastructure</a:t>
            </a:r>
            <a:br>
              <a:rPr lang="en-US" sz="60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en-US" sz="60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eStore</a:t>
            </a:r>
            <a:endParaRPr/>
          </a:p>
        </p:txBody>
      </p:sp>
      <p:sp>
        <p:nvSpPr>
          <p:cNvPr id="65" name="Google Shape;65;p13"/>
          <p:cNvSpPr txBox="1"/>
          <p:nvPr/>
        </p:nvSpPr>
        <p:spPr>
          <a:xfrm>
            <a:off x="8942561" y="6102725"/>
            <a:ext cx="2638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FMM-Infrastructure</a:t>
            </a:r>
            <a:endParaRPr/>
          </a:p>
        </p:txBody>
      </p:sp>
      <p:pic>
        <p:nvPicPr>
          <p:cNvPr descr="image.png" id="66" name="Google Shape;6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0" y="176778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3"/>
          <p:cNvSpPr txBox="1"/>
          <p:nvPr/>
        </p:nvSpPr>
        <p:spPr>
          <a:xfrm>
            <a:off x="622056" y="6138659"/>
            <a:ext cx="3060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alqama.hasnain@tatasteel.com</a:t>
            </a:r>
            <a:endParaRPr/>
          </a:p>
        </p:txBody>
      </p:sp>
      <p:pic>
        <p:nvPicPr>
          <p:cNvPr id="68" name="Google Shape;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53750" y="285750"/>
            <a:ext cx="762000" cy="4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Tata Steel Logo.svg - Wikimedia Commons" id="69" name="Google Shape;6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1500" y="714450"/>
            <a:ext cx="1941760" cy="2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4" name="Google Shape;7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5" name="Google Shape;7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138362"/>
            <a:ext cx="3295650" cy="3438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6" name="Google Shape;7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8175" y="2138362"/>
            <a:ext cx="3295650" cy="3438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7" name="Google Shape;7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138347"/>
            <a:ext cx="3295650" cy="3428233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>
            <a:off x="771525" y="771525"/>
            <a:ext cx="111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64748B"/>
                </a:solidFill>
                <a:latin typeface="Outfit Medium"/>
                <a:ea typeface="Outfit Medium"/>
                <a:cs typeface="Outfit Medium"/>
                <a:sym typeface="Outfit Medium"/>
              </a:rPr>
              <a:t>PROBLEM STATEMENT</a:t>
            </a:r>
            <a:endParaRPr sz="3000"/>
          </a:p>
        </p:txBody>
      </p:sp>
      <p:sp>
        <p:nvSpPr>
          <p:cNvPr id="79" name="Google Shape;79;p14"/>
          <p:cNvSpPr txBox="1"/>
          <p:nvPr/>
        </p:nvSpPr>
        <p:spPr>
          <a:xfrm>
            <a:off x="1162050" y="3233737"/>
            <a:ext cx="141017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Manual Drift</a:t>
            </a:r>
            <a:endParaRPr/>
          </a:p>
        </p:txBody>
      </p:sp>
      <p:sp>
        <p:nvSpPr>
          <p:cNvPr id="80" name="Google Shape;80;p14"/>
          <p:cNvSpPr txBox="1"/>
          <p:nvPr/>
        </p:nvSpPr>
        <p:spPr>
          <a:xfrm>
            <a:off x="1162050" y="3852862"/>
            <a:ext cx="25146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Paper registers are prone to physical damage, loss, and excessive paperwork in the department.</a:t>
            </a:r>
            <a:endParaRPr/>
          </a:p>
        </p:txBody>
      </p:sp>
      <p:sp>
        <p:nvSpPr>
          <p:cNvPr id="81" name="Google Shape;81;p14"/>
          <p:cNvSpPr txBox="1"/>
          <p:nvPr/>
        </p:nvSpPr>
        <p:spPr>
          <a:xfrm>
            <a:off x="4838700" y="3233737"/>
            <a:ext cx="147018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Visibility Gap</a:t>
            </a:r>
            <a:endParaRPr/>
          </a:p>
        </p:txBody>
      </p:sp>
      <p:sp>
        <p:nvSpPr>
          <p:cNvPr id="82" name="Google Shape;82;p14"/>
          <p:cNvSpPr txBox="1"/>
          <p:nvPr/>
        </p:nvSpPr>
        <p:spPr>
          <a:xfrm>
            <a:off x="4838700" y="3852862"/>
            <a:ext cx="2514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Zero real-time querying for stock levels leads to "stock-out" situations</a:t>
            </a:r>
            <a:r>
              <a:rPr lang="en-US" sz="1500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.</a:t>
            </a:r>
            <a:endParaRPr/>
          </a:p>
        </p:txBody>
      </p:sp>
      <p:sp>
        <p:nvSpPr>
          <p:cNvPr id="83" name="Google Shape;83;p14"/>
          <p:cNvSpPr txBox="1"/>
          <p:nvPr/>
        </p:nvSpPr>
        <p:spPr>
          <a:xfrm>
            <a:off x="8515350" y="3233737"/>
            <a:ext cx="21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Manual Checking</a:t>
            </a:r>
            <a:endParaRPr/>
          </a:p>
        </p:txBody>
      </p:sp>
      <p:pic>
        <p:nvPicPr>
          <p:cNvPr descr="image.png" id="84" name="Google Shape;8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62050" y="2566987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38700" y="25669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15350" y="2566987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4"/>
          <p:cNvSpPr txBox="1"/>
          <p:nvPr/>
        </p:nvSpPr>
        <p:spPr>
          <a:xfrm>
            <a:off x="8323200" y="3796687"/>
            <a:ext cx="25146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Tool holder tracking issues lead to unreturned equipmen. Daily manual checks are needed for due dates and expiration.</a:t>
            </a:r>
            <a:endParaRPr sz="1500">
              <a:solidFill>
                <a:srgbClr val="475569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/>
          <p:cNvSpPr txBox="1"/>
          <p:nvPr/>
        </p:nvSpPr>
        <p:spPr>
          <a:xfrm>
            <a:off x="505301" y="2024062"/>
            <a:ext cx="11181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F172A"/>
                </a:solidFill>
                <a:latin typeface="Outfit Light"/>
                <a:ea typeface="Outfit Light"/>
                <a:cs typeface="Outfit Light"/>
                <a:sym typeface="Outfit Light"/>
              </a:rPr>
              <a:t>The Digital </a:t>
            </a:r>
            <a:r>
              <a:rPr lang="en-US" sz="6000">
                <a:solidFill>
                  <a:srgbClr val="0F172A"/>
                </a:solidFill>
                <a:latin typeface="Outfit Light"/>
                <a:ea typeface="Outfit Light"/>
                <a:cs typeface="Outfit Light"/>
                <a:sym typeface="Outfit Light"/>
              </a:rPr>
              <a:t>Store</a:t>
            </a:r>
            <a:endParaRPr sz="6000"/>
          </a:p>
        </p:txBody>
      </p:sp>
      <p:sp>
        <p:nvSpPr>
          <p:cNvPr id="94" name="Google Shape;94;p15"/>
          <p:cNvSpPr/>
          <p:nvPr/>
        </p:nvSpPr>
        <p:spPr>
          <a:xfrm>
            <a:off x="5715000" y="3443287"/>
            <a:ext cx="762000" cy="190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1430200" y="3873100"/>
            <a:ext cx="93315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A centralized, cloud-accessible platform for </a:t>
            </a:r>
            <a:r>
              <a:rPr lang="en-US" sz="3000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issuing </a:t>
            </a:r>
            <a:r>
              <a:rPr b="0" i="0" lang="en-US" sz="3000" u="none" cap="none" strike="noStrike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&amp; </a:t>
            </a:r>
            <a:r>
              <a:rPr lang="en-US" sz="3000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tracking </a:t>
            </a:r>
            <a:r>
              <a:rPr b="0" i="0" lang="en-US" sz="3000" u="none" cap="none" strike="noStrike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every asset in </a:t>
            </a:r>
            <a:r>
              <a:rPr lang="en-US" sz="3000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our stores</a:t>
            </a:r>
            <a:r>
              <a:rPr b="0" i="0" lang="en-US" sz="3000" u="none" cap="none" strike="noStrike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.</a:t>
            </a:r>
            <a:endParaRPr sz="3000"/>
          </a:p>
        </p:txBody>
      </p:sp>
      <p:sp>
        <p:nvSpPr>
          <p:cNvPr id="96" name="Google Shape;96;p15"/>
          <p:cNvSpPr txBox="1"/>
          <p:nvPr/>
        </p:nvSpPr>
        <p:spPr>
          <a:xfrm>
            <a:off x="771525" y="771525"/>
            <a:ext cx="111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64748B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 SOLUTION</a:t>
            </a:r>
            <a:endParaRPr sz="3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6"/>
          <p:cNvSpPr txBox="1"/>
          <p:nvPr/>
        </p:nvSpPr>
        <p:spPr>
          <a:xfrm>
            <a:off x="771525" y="771525"/>
            <a:ext cx="111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64748B"/>
                </a:solidFill>
                <a:latin typeface="Outfit Medium"/>
                <a:ea typeface="Outfit Medium"/>
                <a:cs typeface="Outfit Medium"/>
                <a:sym typeface="Outfit Medium"/>
              </a:rPr>
              <a:t>IMPACT</a:t>
            </a:r>
            <a:endParaRPr sz="3000"/>
          </a:p>
        </p:txBody>
      </p:sp>
      <p:sp>
        <p:nvSpPr>
          <p:cNvPr id="103" name="Google Shape;103;p16"/>
          <p:cNvSpPr txBox="1"/>
          <p:nvPr/>
        </p:nvSpPr>
        <p:spPr>
          <a:xfrm>
            <a:off x="869825" y="1776821"/>
            <a:ext cx="33624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~</a:t>
            </a:r>
            <a:r>
              <a:rPr b="1" lang="en-US" sz="10300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8</a:t>
            </a:r>
            <a:r>
              <a:rPr b="1" i="0" lang="en-US" sz="103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0%</a:t>
            </a:r>
            <a:endParaRPr sz="1200"/>
          </a:p>
        </p:txBody>
      </p:sp>
      <p:sp>
        <p:nvSpPr>
          <p:cNvPr id="104" name="Google Shape;104;p16"/>
          <p:cNvSpPr txBox="1"/>
          <p:nvPr/>
        </p:nvSpPr>
        <p:spPr>
          <a:xfrm>
            <a:off x="4705357" y="1237333"/>
            <a:ext cx="7050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4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Immediate Data Retrieval</a:t>
            </a:r>
            <a:endParaRPr sz="1600"/>
          </a:p>
        </p:txBody>
      </p:sp>
      <p:sp>
        <p:nvSpPr>
          <p:cNvPr id="105" name="Google Shape;105;p16"/>
          <p:cNvSpPr txBox="1"/>
          <p:nvPr/>
        </p:nvSpPr>
        <p:spPr>
          <a:xfrm>
            <a:off x="4705357" y="1561454"/>
            <a:ext cx="6715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By digitizing the store catalogue, </a:t>
            </a:r>
            <a:r>
              <a:rPr lang="en-US" sz="1500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employee 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no longer spend hours scouring shelves or registers. </a:t>
            </a:r>
            <a:br>
              <a:rPr b="0" i="0" lang="en-US" sz="1500" u="none" cap="none" strike="noStrike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</a:br>
            <a:r>
              <a:rPr b="0" i="0" lang="en-US" sz="1500" u="none" cap="none" strike="noStrike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Location-based</a:t>
            </a:r>
            <a:r>
              <a:rPr lang="en-US" sz="1500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tracking ensures the right tool is found in seconds.</a:t>
            </a: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512532" y="3403571"/>
            <a:ext cx="3784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Reduction in </a:t>
            </a:r>
            <a:r>
              <a:rPr lang="en-US" sz="15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Search &amp; </a:t>
            </a:r>
            <a:r>
              <a:rPr lang="en-US" sz="15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Issuance</a:t>
            </a:r>
            <a:r>
              <a:rPr lang="en-US" sz="15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Time</a:t>
            </a:r>
            <a:endParaRPr/>
          </a:p>
        </p:txBody>
      </p:sp>
      <p:sp>
        <p:nvSpPr>
          <p:cNvPr id="107" name="Google Shape;107;p16"/>
          <p:cNvSpPr txBox="1"/>
          <p:nvPr/>
        </p:nvSpPr>
        <p:spPr>
          <a:xfrm>
            <a:off x="4703088" y="2745247"/>
            <a:ext cx="7050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4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Immediate </a:t>
            </a:r>
            <a:r>
              <a:rPr b="1" lang="en-US" sz="1604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Issueance</a:t>
            </a:r>
            <a:endParaRPr sz="1600"/>
          </a:p>
        </p:txBody>
      </p:sp>
      <p:sp>
        <p:nvSpPr>
          <p:cNvPr id="108" name="Google Shape;108;p16"/>
          <p:cNvSpPr txBox="1"/>
          <p:nvPr/>
        </p:nvSpPr>
        <p:spPr>
          <a:xfrm>
            <a:off x="4703088" y="3069367"/>
            <a:ext cx="67152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By digitizing the store catalogue, employee no longer spend hours scouring shelves or registers. Location-based tracking ensures the right tool is found in seconds. This has resulted in a 90% reduction in the time taken to issue items.</a:t>
            </a: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4302534" y="4504182"/>
            <a:ext cx="33624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~</a:t>
            </a:r>
            <a:r>
              <a:rPr b="1" lang="en-US" sz="10300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99</a:t>
            </a:r>
            <a:r>
              <a:rPr b="1" i="0" lang="en-US" sz="103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%</a:t>
            </a:r>
            <a:endParaRPr sz="1200"/>
          </a:p>
        </p:txBody>
      </p:sp>
      <p:sp>
        <p:nvSpPr>
          <p:cNvPr id="110" name="Google Shape;110;p16"/>
          <p:cNvSpPr txBox="1"/>
          <p:nvPr/>
        </p:nvSpPr>
        <p:spPr>
          <a:xfrm>
            <a:off x="3860552" y="5983025"/>
            <a:ext cx="4470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Inter SemiBold"/>
                <a:ea typeface="Inter SemiBold"/>
                <a:cs typeface="Inter SemiBold"/>
                <a:sym typeface="Inter SemiBold"/>
              </a:rPr>
              <a:t>Decreased reliance on physical paperwork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 txBox="1"/>
          <p:nvPr/>
        </p:nvSpPr>
        <p:spPr>
          <a:xfrm>
            <a:off x="771525" y="771525"/>
            <a:ext cx="111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64748B"/>
                </a:solidFill>
                <a:latin typeface="Outfit Medium"/>
                <a:ea typeface="Outfit Medium"/>
                <a:cs typeface="Outfit Medium"/>
                <a:sym typeface="Outfit Medium"/>
              </a:rPr>
              <a:t>OWNERSHIP &amp; ACCOUNTABILITY</a:t>
            </a:r>
            <a:endParaRPr sz="3000"/>
          </a:p>
        </p:txBody>
      </p:sp>
      <p:grpSp>
        <p:nvGrpSpPr>
          <p:cNvPr id="117" name="Google Shape;117;p17"/>
          <p:cNvGrpSpPr/>
          <p:nvPr/>
        </p:nvGrpSpPr>
        <p:grpSpPr>
          <a:xfrm>
            <a:off x="771525" y="2095500"/>
            <a:ext cx="10649100" cy="2857500"/>
            <a:chOff x="771525" y="2095500"/>
            <a:chExt cx="10649100" cy="2857500"/>
          </a:xfrm>
        </p:grpSpPr>
        <p:sp>
          <p:nvSpPr>
            <p:cNvPr id="118" name="Google Shape;118;p17"/>
            <p:cNvSpPr/>
            <p:nvPr/>
          </p:nvSpPr>
          <p:spPr>
            <a:xfrm>
              <a:off x="771525" y="2095500"/>
              <a:ext cx="5048400" cy="2857500"/>
            </a:xfrm>
            <a:prstGeom prst="roundRect">
              <a:avLst>
                <a:gd fmla="val 40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6372225" y="2095500"/>
              <a:ext cx="5048400" cy="2857500"/>
            </a:xfrm>
            <a:prstGeom prst="roundRect">
              <a:avLst>
                <a:gd fmla="val 40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7"/>
            <p:cNvSpPr txBox="1"/>
            <p:nvPr/>
          </p:nvSpPr>
          <p:spPr>
            <a:xfrm>
              <a:off x="1143000" y="2476500"/>
              <a:ext cx="4286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142875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0F172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badge</a:t>
              </a:r>
              <a:endParaRPr sz="3600">
                <a:solidFill>
                  <a:srgbClr val="0F172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F172A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P.No Mapping</a:t>
              </a:r>
              <a:endParaRPr b="0" sz="2200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Every issuance is strictly linked to a validated Personnel Number, ensuring absolute traceability for every asset.</a:t>
              </a:r>
              <a:endParaRPr b="0" sz="1600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sp>
          <p:nvSpPr>
            <p:cNvPr id="121" name="Google Shape;121;p17"/>
            <p:cNvSpPr txBox="1"/>
            <p:nvPr/>
          </p:nvSpPr>
          <p:spPr>
            <a:xfrm>
              <a:off x="6753225" y="2476500"/>
              <a:ext cx="4286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142875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0F172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update</a:t>
              </a:r>
              <a:endParaRPr sz="3600">
                <a:solidFill>
                  <a:srgbClr val="0F172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F172A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Stock Restoration</a:t>
              </a:r>
              <a:endParaRPr b="0" sz="2200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Automatic stock updates upon return ensure the next shift has accurate counts and immediate availability.</a:t>
              </a:r>
              <a:endParaRPr b="0" sz="1600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8"/>
          <p:cNvSpPr txBox="1"/>
          <p:nvPr/>
        </p:nvSpPr>
        <p:spPr>
          <a:xfrm>
            <a:off x="771525" y="771525"/>
            <a:ext cx="111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64748B"/>
                </a:solidFill>
                <a:latin typeface="Outfit Medium"/>
                <a:ea typeface="Outfit Medium"/>
                <a:cs typeface="Outfit Medium"/>
                <a:sym typeface="Outfit Medium"/>
              </a:rPr>
              <a:t>COMPLIANCE</a:t>
            </a:r>
            <a:endParaRPr sz="3000"/>
          </a:p>
        </p:txBody>
      </p:sp>
      <p:sp>
        <p:nvSpPr>
          <p:cNvPr id="128" name="Google Shape;128;p18"/>
          <p:cNvSpPr txBox="1"/>
          <p:nvPr/>
        </p:nvSpPr>
        <p:spPr>
          <a:xfrm>
            <a:off x="1200150" y="2828925"/>
            <a:ext cx="10220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Calibration Tracking: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 Prevents the issuance of tools with expired inspection certificates</a:t>
            </a:r>
            <a:r>
              <a:rPr lang="en-US" sz="1650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/callibrations.</a:t>
            </a:r>
            <a:endParaRPr/>
          </a:p>
        </p:txBody>
      </p:sp>
      <p:sp>
        <p:nvSpPr>
          <p:cNvPr id="129" name="Google Shape;129;p18"/>
          <p:cNvSpPr txBox="1"/>
          <p:nvPr/>
        </p:nvSpPr>
        <p:spPr>
          <a:xfrm>
            <a:off x="1200150" y="3381375"/>
            <a:ext cx="102203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Safety Alerts: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 System flags items requiring immediate recalibration based on "Next Due Dates".</a:t>
            </a:r>
            <a:endParaRPr/>
          </a:p>
        </p:txBody>
      </p:sp>
      <p:sp>
        <p:nvSpPr>
          <p:cNvPr id="130" name="Google Shape;130;p18"/>
          <p:cNvSpPr txBox="1"/>
          <p:nvPr/>
        </p:nvSpPr>
        <p:spPr>
          <a:xfrm>
            <a:off x="1200150" y="3959175"/>
            <a:ext cx="10220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Traceability: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 Full digital trail for departmental safety audits and compliance reviews.</a:t>
            </a:r>
            <a:endParaRPr/>
          </a:p>
        </p:txBody>
      </p:sp>
      <p:pic>
        <p:nvPicPr>
          <p:cNvPr descr="image.png" id="131" name="Google Shape;13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8575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4099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0100" y="3962400"/>
            <a:ext cx="1714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981325"/>
            <a:ext cx="2342703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40174" y="2981325"/>
            <a:ext cx="2342703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8824" y="2981325"/>
            <a:ext cx="2342703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77473" y="2981325"/>
            <a:ext cx="2342703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9"/>
          <p:cNvSpPr txBox="1"/>
          <p:nvPr/>
        </p:nvSpPr>
        <p:spPr>
          <a:xfrm>
            <a:off x="771525" y="771525"/>
            <a:ext cx="111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64748B"/>
                </a:solidFill>
                <a:latin typeface="Outfit Medium"/>
                <a:ea typeface="Outfit Medium"/>
                <a:cs typeface="Outfit Medium"/>
                <a:sym typeface="Outfit Medium"/>
              </a:rPr>
              <a:t>STREAMLINED CHECK-OUT WORKFLOW</a:t>
            </a:r>
            <a:endParaRPr sz="3000"/>
          </a:p>
        </p:txBody>
      </p:sp>
      <p:sp>
        <p:nvSpPr>
          <p:cNvPr id="144" name="Google Shape;144;p19"/>
          <p:cNvSpPr/>
          <p:nvPr/>
        </p:nvSpPr>
        <p:spPr>
          <a:xfrm>
            <a:off x="771525" y="3219450"/>
            <a:ext cx="1064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5" name="Google Shape;14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04677" y="29813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/>
        </p:nvSpPr>
        <p:spPr>
          <a:xfrm>
            <a:off x="712957" y="3648075"/>
            <a:ext cx="245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ID Check</a:t>
            </a:r>
            <a:endParaRPr sz="1800"/>
          </a:p>
        </p:txBody>
      </p:sp>
      <p:sp>
        <p:nvSpPr>
          <p:cNvPr id="147" name="Google Shape;147;p19"/>
          <p:cNvSpPr txBox="1"/>
          <p:nvPr/>
        </p:nvSpPr>
        <p:spPr>
          <a:xfrm>
            <a:off x="771525" y="4067175"/>
            <a:ext cx="2342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Employee’s </a:t>
            </a:r>
            <a:r>
              <a:rPr b="0" i="0" lang="en-US" sz="1700" u="none" cap="none" strike="noStrike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P.No validated against Issue </a:t>
            </a:r>
            <a:r>
              <a:rPr lang="en-US" sz="1700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R</a:t>
            </a:r>
            <a:r>
              <a:rPr b="0" i="0" lang="en-US" sz="1700" u="none" cap="none" strike="noStrike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egister.</a:t>
            </a:r>
            <a:endParaRPr sz="1700"/>
          </a:p>
        </p:txBody>
      </p:sp>
      <p:pic>
        <p:nvPicPr>
          <p:cNvPr descr="image.png" id="148" name="Google Shape;14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73326" y="29813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>
            <a:off x="3481607" y="3648075"/>
            <a:ext cx="245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Stock Gate</a:t>
            </a:r>
            <a:endParaRPr sz="1800"/>
          </a:p>
        </p:txBody>
      </p:sp>
      <p:sp>
        <p:nvSpPr>
          <p:cNvPr id="150" name="Google Shape;150;p19"/>
          <p:cNvSpPr txBox="1"/>
          <p:nvPr/>
        </p:nvSpPr>
        <p:spPr>
          <a:xfrm>
            <a:off x="3540174" y="4067175"/>
            <a:ext cx="2342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System confirms availability before decrementing.</a:t>
            </a:r>
            <a:endParaRPr sz="1700"/>
          </a:p>
        </p:txBody>
      </p:sp>
      <p:pic>
        <p:nvPicPr>
          <p:cNvPr descr="image.png" id="151" name="Google Shape;151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41976" y="29813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>
            <a:off x="6250256" y="3648075"/>
            <a:ext cx="245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Issuance</a:t>
            </a:r>
            <a:endParaRPr sz="1800"/>
          </a:p>
        </p:txBody>
      </p:sp>
      <p:sp>
        <p:nvSpPr>
          <p:cNvPr id="153" name="Google Shape;153;p19"/>
          <p:cNvSpPr txBox="1"/>
          <p:nvPr/>
        </p:nvSpPr>
        <p:spPr>
          <a:xfrm>
            <a:off x="6308824" y="4067175"/>
            <a:ext cx="23427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Digital record created with return deadline.</a:t>
            </a:r>
            <a:endParaRPr sz="1700"/>
          </a:p>
        </p:txBody>
      </p:sp>
      <p:pic>
        <p:nvPicPr>
          <p:cNvPr descr="image.png" id="154" name="Google Shape;154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10626" y="29813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9"/>
          <p:cNvSpPr txBox="1"/>
          <p:nvPr/>
        </p:nvSpPr>
        <p:spPr>
          <a:xfrm>
            <a:off x="9018906" y="3648075"/>
            <a:ext cx="245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Real-time</a:t>
            </a:r>
            <a:endParaRPr sz="1800"/>
          </a:p>
        </p:txBody>
      </p:sp>
      <p:sp>
        <p:nvSpPr>
          <p:cNvPr id="156" name="Google Shape;156;p19"/>
          <p:cNvSpPr txBox="1"/>
          <p:nvPr/>
        </p:nvSpPr>
        <p:spPr>
          <a:xfrm>
            <a:off x="9077473" y="4067175"/>
            <a:ext cx="23427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Live inventory counts updated</a:t>
            </a:r>
            <a:r>
              <a:rPr lang="en-US" sz="1700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.</a:t>
            </a:r>
            <a:endParaRPr sz="1700"/>
          </a:p>
        </p:txBody>
      </p:sp>
      <p:pic>
        <p:nvPicPr>
          <p:cNvPr descr="image.png" id="157" name="Google Shape;157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857077" y="312420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92389" y="3124200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370564" y="3124200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177313" y="3124200"/>
            <a:ext cx="1428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3713" y="2241014"/>
            <a:ext cx="3295220" cy="3152775"/>
          </a:xfrm>
          <a:prstGeom prst="rect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.png" id="167" name="Google Shape;16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7963" y="2241026"/>
            <a:ext cx="3295650" cy="3152775"/>
          </a:xfrm>
          <a:prstGeom prst="rect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.png" id="168" name="Google Shape;16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72638" y="2241024"/>
            <a:ext cx="3295650" cy="3152775"/>
          </a:xfrm>
          <a:prstGeom prst="rect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9" name="Google Shape;169;p20"/>
          <p:cNvSpPr txBox="1"/>
          <p:nvPr/>
        </p:nvSpPr>
        <p:spPr>
          <a:xfrm>
            <a:off x="771525" y="771525"/>
            <a:ext cx="111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64748B"/>
                </a:solidFill>
                <a:latin typeface="Outfit Medium"/>
                <a:ea typeface="Outfit Medium"/>
                <a:cs typeface="Outfit Medium"/>
                <a:sym typeface="Outfit Medium"/>
              </a:rPr>
              <a:t>ACCESS CONTROL</a:t>
            </a:r>
            <a:endParaRPr sz="3000"/>
          </a:p>
        </p:txBody>
      </p:sp>
      <p:sp>
        <p:nvSpPr>
          <p:cNvPr id="170" name="Google Shape;170;p20"/>
          <p:cNvSpPr txBox="1"/>
          <p:nvPr/>
        </p:nvSpPr>
        <p:spPr>
          <a:xfrm>
            <a:off x="1611925" y="3349188"/>
            <a:ext cx="191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Encrypted Login</a:t>
            </a:r>
            <a:endParaRPr sz="2000"/>
          </a:p>
        </p:txBody>
      </p:sp>
      <p:sp>
        <p:nvSpPr>
          <p:cNvPr id="171" name="Google Shape;171;p20"/>
          <p:cNvSpPr txBox="1"/>
          <p:nvPr/>
        </p:nvSpPr>
        <p:spPr>
          <a:xfrm>
            <a:off x="1161838" y="3955526"/>
            <a:ext cx="2514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Stateless JWT tokens ensure secure, protected workshop sessions.</a:t>
            </a:r>
            <a:endParaRPr sz="1700"/>
          </a:p>
        </p:txBody>
      </p:sp>
      <p:sp>
        <p:nvSpPr>
          <p:cNvPr id="172" name="Google Shape;172;p20"/>
          <p:cNvSpPr txBox="1"/>
          <p:nvPr/>
        </p:nvSpPr>
        <p:spPr>
          <a:xfrm>
            <a:off x="5162928" y="3349188"/>
            <a:ext cx="186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Role Separation</a:t>
            </a:r>
            <a:endParaRPr sz="2000"/>
          </a:p>
        </p:txBody>
      </p:sp>
      <p:sp>
        <p:nvSpPr>
          <p:cNvPr id="173" name="Google Shape;173;p20"/>
          <p:cNvSpPr txBox="1"/>
          <p:nvPr/>
        </p:nvSpPr>
        <p:spPr>
          <a:xfrm>
            <a:off x="4778413" y="3759326"/>
            <a:ext cx="2514600" cy="14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Distinct permissions for 'Issuers' vs 'Admins' to prevent unauthorized transactions</a:t>
            </a:r>
            <a:endParaRPr sz="1700"/>
          </a:p>
        </p:txBody>
      </p:sp>
      <p:sp>
        <p:nvSpPr>
          <p:cNvPr id="174" name="Google Shape;174;p20"/>
          <p:cNvSpPr txBox="1"/>
          <p:nvPr/>
        </p:nvSpPr>
        <p:spPr>
          <a:xfrm>
            <a:off x="8333919" y="3262425"/>
            <a:ext cx="257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Authorised Access</a:t>
            </a:r>
            <a:endParaRPr sz="2000"/>
          </a:p>
        </p:txBody>
      </p:sp>
      <p:sp>
        <p:nvSpPr>
          <p:cNvPr id="175" name="Google Shape;175;p20"/>
          <p:cNvSpPr txBox="1"/>
          <p:nvPr/>
        </p:nvSpPr>
        <p:spPr>
          <a:xfrm>
            <a:off x="8363163" y="3703100"/>
            <a:ext cx="2514600" cy="14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Read-only access permitted for guests while write-access is locked.</a:t>
            </a:r>
            <a:endParaRPr sz="1700"/>
          </a:p>
        </p:txBody>
      </p:sp>
      <p:pic>
        <p:nvPicPr>
          <p:cNvPr descr="image.png" id="176" name="Google Shape;17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99425" y="2730001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23888" y="2730001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2375" y="2643200"/>
            <a:ext cx="42862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424112"/>
            <a:ext cx="5133975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424112"/>
            <a:ext cx="5133975" cy="286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/>
        </p:nvSpPr>
        <p:spPr>
          <a:xfrm>
            <a:off x="771525" y="771525"/>
            <a:ext cx="111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64748B"/>
                </a:solidFill>
                <a:latin typeface="Outfit Medium"/>
                <a:ea typeface="Outfit Medium"/>
                <a:cs typeface="Outfit Medium"/>
                <a:sym typeface="Outfit Medium"/>
              </a:rPr>
              <a:t>FUTURE ROADMAP</a:t>
            </a:r>
            <a:endParaRPr sz="3000"/>
          </a:p>
        </p:txBody>
      </p:sp>
      <p:sp>
        <p:nvSpPr>
          <p:cNvPr id="187" name="Google Shape;187;p21"/>
          <p:cNvSpPr txBox="1"/>
          <p:nvPr/>
        </p:nvSpPr>
        <p:spPr>
          <a:xfrm>
            <a:off x="1190625" y="3519487"/>
            <a:ext cx="199024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Barcode Scanning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1190625" y="4138612"/>
            <a:ext cx="43243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Integration with handheld scanners for instant check-in/check-out.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6705600" y="3519487"/>
            <a:ext cx="122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</a:t>
            </a:r>
            <a:r>
              <a:rPr b="0" i="0" lang="en-US" sz="1800" u="none" cap="none" strike="noStrike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lerts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6705600" y="4138612"/>
            <a:ext cx="4324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Automated notifications (SMS, emails) to </a:t>
            </a:r>
            <a:r>
              <a:rPr lang="en-US" sz="1500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the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00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concerned parties 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for overdue </a:t>
            </a:r>
            <a:r>
              <a:rPr lang="en-US" sz="1500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items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.</a:t>
            </a:r>
            <a:endParaRPr/>
          </a:p>
        </p:txBody>
      </p:sp>
      <p:pic>
        <p:nvPicPr>
          <p:cNvPr descr="image.png" id="191" name="Google Shape;19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0625" y="28527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05600" y="2852737"/>
            <a:ext cx="33337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/>
          <p:cNvPicPr preferRelativeResize="0"/>
          <p:nvPr/>
        </p:nvPicPr>
        <p:blipFill rotWithShape="1">
          <a:blip r:embed="rId4">
            <a:alphaModFix/>
          </a:blip>
          <a:srcRect b="0" l="617" r="1469" t="0"/>
          <a:stretch/>
        </p:blipFill>
        <p:spPr>
          <a:xfrm>
            <a:off x="5" y="0"/>
            <a:ext cx="12192000" cy="5809775"/>
          </a:xfrm>
          <a:prstGeom prst="rect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9" name="Google Shape;199;p22">
            <a:hlinkClick r:id="rId5"/>
          </p:cNvPr>
          <p:cNvSpPr txBox="1"/>
          <p:nvPr/>
        </p:nvSpPr>
        <p:spPr>
          <a:xfrm>
            <a:off x="771525" y="6058316"/>
            <a:ext cx="11181300" cy="3078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fadeDir="5400012" kx="0" rotWithShape="0" algn="bl" stA="30000" stPos="0" sy="-100000" ky="0"/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chemeClr val="lt1"/>
                </a:solidFill>
                <a:latin typeface="Nunito Light"/>
                <a:ea typeface="Nunito Light"/>
                <a:cs typeface="Nunito Light"/>
                <a:sym typeface="Nunito Light"/>
              </a:rPr>
              <a:t>https://tsl-storemgmtsys-1.onrender.com/</a:t>
            </a:r>
            <a:endParaRPr i="1" sz="2000">
              <a:solidFill>
                <a:schemeClr val="lt1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pic>
        <p:nvPicPr>
          <p:cNvPr id="200" name="Google Shape;200;p22"/>
          <p:cNvPicPr preferRelativeResize="0"/>
          <p:nvPr/>
        </p:nvPicPr>
        <p:blipFill>
          <a:blip r:embed="rId6">
            <a:alphaModFix amt="79000"/>
          </a:blip>
          <a:stretch>
            <a:fillRect/>
          </a:stretch>
        </p:blipFill>
        <p:spPr>
          <a:xfrm>
            <a:off x="8717352" y="6275741"/>
            <a:ext cx="401875" cy="40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3"/>
          <p:cNvSpPr txBox="1"/>
          <p:nvPr/>
        </p:nvSpPr>
        <p:spPr>
          <a:xfrm>
            <a:off x="295200" y="2967305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THANK</a:t>
            </a:r>
            <a:r>
              <a:rPr lang="en-US" sz="60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YOU</a:t>
            </a:r>
            <a:endParaRPr>
              <a:solidFill>
                <a:srgbClr val="DEFF9A"/>
              </a:solidFill>
            </a:endParaRPr>
          </a:p>
        </p:txBody>
      </p:sp>
      <p:pic>
        <p:nvPicPr>
          <p:cNvPr id="207" name="Google Shape;20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53750" y="285750"/>
            <a:ext cx="762000" cy="4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